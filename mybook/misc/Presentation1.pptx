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BABED-A241-4F0E-A192-E8B10A1427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FD9DD-3074-46EB-925C-A4B6CDBBE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0FE9D-0A75-4AF7-B107-07103516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362F9-0ACD-4741-B7AE-F52A4E5E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116EB-4301-405A-AD78-36B9FF74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31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9FE5-4B70-42AF-B76A-6618A01B7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58DA7-6D2D-4E78-99C6-0CDFAE345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9FEB9-E58C-4F3F-A65E-66158B54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CB68F-DCF6-46FE-9E20-D022F7938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18F4F-77C9-4364-AF66-D0255D37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572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F18DC-7603-46A6-9229-AAE40175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B49EC-C100-44A6-AF37-1F6DEE98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18EC7-8CF2-467C-B37C-23D7A09B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C2B1D-0227-45FD-8404-7929524D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1C010-3633-4C9E-82F2-B94435C2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750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8A34B-C48D-4E0E-8D67-54CA3F00D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26EB0-6BEE-47C7-B983-41CDB9784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2FF18-29B3-4EFC-98DE-C9E511E6A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EE458-FE70-4324-8EE5-FC1397EC3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CCEC4-CDE7-4CDD-95AF-8518092F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5ACCE-981F-48A1-9A5A-E1B752193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68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63E22-0D27-4BC4-AFFA-24BE8B480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A52457-EF48-4B5F-BF1C-872C26E6E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37C34-AD08-48DE-8DB6-71CDBC605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5BD85-293E-4342-BFCC-EC0666036B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D6B968-8D49-4860-95BB-A046F22BF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D0FC00-D9CE-4474-96E0-3641A0F0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DE1EE2-6F2E-422F-8AB5-1F1D2E8BE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0F4F18-F245-4BE9-B265-367B60603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57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28D7C-B2E9-491B-B4AF-C77E3F2D6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B873D7-381B-4BEB-BDA3-C61E7AFA1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53873-FDA6-46DE-A614-50D5EDC0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AF9C79-283C-4DDC-830D-A17F04892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45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281CCA-DB98-4452-B437-857F69450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3C021-281C-424D-B146-736D0BD4F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244C4-0862-42C6-8F13-3EACD671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9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07F45-505C-49F6-ADAA-0D32B3E3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4A0B9-5FFE-40BA-95FE-AA332F0D6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599846-77AA-4087-8BE0-45A6187CB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E6DFD-D434-4DAD-BABA-7769DD66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26C1A-A693-4F90-8F97-A51990C56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391F83-A5BF-44C0-AC42-843F98969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6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C76C5-9CFA-4932-B1F6-183C8D040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930707-BD00-449B-B74C-E36AE837E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F8F73-9CF5-4461-B3DC-DC43A8B0F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B39649-806F-4A77-8F44-F760C5281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473CC2-DC14-436B-8575-5755A4445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295D6-14F2-46A1-B271-896802F8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2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2F3F-6294-430F-996D-5852A8A91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93FBD-9EDE-4ADA-B580-2532A3810D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A756-5FD5-4318-9379-043275E3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0E95D-09DC-4CE4-B486-93A7CDB9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61EE0-D582-4AE4-9F2A-D054FAA0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042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7491A9-60EE-481E-8262-7DBC2BFF2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CEA337-6518-4221-8148-E6F140248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0AE97-DF8F-4E69-A3B1-50A22374B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03B48-2095-45F9-BB64-F27FF1A50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60DFE-DEF4-469F-8093-ADFBDD351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206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D86EE6-74CF-4DC9-AC1D-57CC8B09B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BC1E0-4021-473D-A35B-21E94B071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F92FD-E547-42E7-B50B-57C8851BFA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B9B26-F8CF-4BB9-AFC6-DCE7A0426D82}" type="datetimeFigureOut">
              <a:rPr lang="en-US" smtClean="0"/>
              <a:t>4/30/2021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9B2B4-387E-4A4B-8E3C-AB1B5EAA2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CFD05E-37E6-4D9E-97D5-96B57937D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A31858-21A8-4DC5-BC39-4DE882B4C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6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F77FAE5-EDFF-4D07-B36A-17E57B7025E5}"/>
              </a:ext>
            </a:extLst>
          </p:cNvPr>
          <p:cNvSpPr/>
          <p:nvPr/>
        </p:nvSpPr>
        <p:spPr>
          <a:xfrm>
            <a:off x="163183" y="1349675"/>
            <a:ext cx="1504950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Independent Variable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682CA5-1850-42BD-8B57-A010F7F083C6}"/>
              </a:ext>
            </a:extLst>
          </p:cNvPr>
          <p:cNvSpPr/>
          <p:nvPr/>
        </p:nvSpPr>
        <p:spPr>
          <a:xfrm>
            <a:off x="2135757" y="233993"/>
            <a:ext cx="1504950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Mediator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3C3C1F-22B4-4228-AA74-33490FA66DC1}"/>
              </a:ext>
            </a:extLst>
          </p:cNvPr>
          <p:cNvSpPr/>
          <p:nvPr/>
        </p:nvSpPr>
        <p:spPr>
          <a:xfrm>
            <a:off x="4059447" y="1349675"/>
            <a:ext cx="1504950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Dependent Variable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1683D3-474B-4E56-A956-99AEA29DF11D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668133" y="1749725"/>
            <a:ext cx="2391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DFD696E-40F4-4939-B078-7B0D9190ABB3}"/>
              </a:ext>
            </a:extLst>
          </p:cNvPr>
          <p:cNvCxnSpPr>
            <a:stCxn id="4" idx="0"/>
            <a:endCxn id="5" idx="1"/>
          </p:cNvCxnSpPr>
          <p:nvPr/>
        </p:nvCxnSpPr>
        <p:spPr>
          <a:xfrm flipV="1">
            <a:off x="915658" y="634043"/>
            <a:ext cx="1220099" cy="71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970B04-5FA0-4C7A-850C-6A6A74D7D508}"/>
              </a:ext>
            </a:extLst>
          </p:cNvPr>
          <p:cNvCxnSpPr>
            <a:stCxn id="5" idx="3"/>
            <a:endCxn id="6" idx="0"/>
          </p:cNvCxnSpPr>
          <p:nvPr/>
        </p:nvCxnSpPr>
        <p:spPr>
          <a:xfrm>
            <a:off x="3640707" y="634043"/>
            <a:ext cx="1171215" cy="71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39DFED4-61EB-4112-8BC9-73AC70B81C96}"/>
              </a:ext>
            </a:extLst>
          </p:cNvPr>
          <p:cNvSpPr/>
          <p:nvPr/>
        </p:nvSpPr>
        <p:spPr>
          <a:xfrm>
            <a:off x="163183" y="3992413"/>
            <a:ext cx="1504950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Independent Variable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B4B843-A34E-4326-8916-B5D50AB7A642}"/>
              </a:ext>
            </a:extLst>
          </p:cNvPr>
          <p:cNvSpPr/>
          <p:nvPr/>
        </p:nvSpPr>
        <p:spPr>
          <a:xfrm>
            <a:off x="2135757" y="2876731"/>
            <a:ext cx="1504950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Moderator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54DB47-9EBD-4876-ACDF-91E93DED48F5}"/>
              </a:ext>
            </a:extLst>
          </p:cNvPr>
          <p:cNvSpPr/>
          <p:nvPr/>
        </p:nvSpPr>
        <p:spPr>
          <a:xfrm>
            <a:off x="4059447" y="3992413"/>
            <a:ext cx="1504950" cy="8001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Dependent Variable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859F705-C3D7-4F95-ABF0-3D1CF1E685FB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>
            <a:off x="1668133" y="4392463"/>
            <a:ext cx="2391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98B595-DCEF-44BA-9FCA-1D3E0756EA24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2888232" y="3676831"/>
            <a:ext cx="0" cy="7156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DC352F1-3C84-4ED2-A0B3-8CC4B5FE0A92}"/>
              </a:ext>
            </a:extLst>
          </p:cNvPr>
          <p:cNvSpPr txBox="1"/>
          <p:nvPr/>
        </p:nvSpPr>
        <p:spPr>
          <a:xfrm>
            <a:off x="7116791" y="776377"/>
            <a:ext cx="4459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reason for the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Must be </a:t>
            </a:r>
            <a:r>
              <a:rPr lang="en-US" dirty="0"/>
              <a:t>a causal result of the IV </a:t>
            </a:r>
            <a:r>
              <a:rPr lang="en-US" b="1" dirty="0"/>
              <a:t>AND</a:t>
            </a:r>
            <a:r>
              <a:rPr lang="en-US" dirty="0"/>
              <a:t> a causal antecedent of the DB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2B20CD-C462-4EC3-BB35-8A60E0DF1EEE}"/>
              </a:ext>
            </a:extLst>
          </p:cNvPr>
          <p:cNvSpPr txBox="1"/>
          <p:nvPr/>
        </p:nvSpPr>
        <p:spPr>
          <a:xfrm>
            <a:off x="7116792" y="3648436"/>
            <a:ext cx="44598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Contextualizing the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Must not </a:t>
            </a:r>
            <a:r>
              <a:rPr lang="en-US" dirty="0"/>
              <a:t>be the causal result of the IV</a:t>
            </a:r>
          </a:p>
        </p:txBody>
      </p:sp>
    </p:spTree>
    <p:extLst>
      <p:ext uri="{BB962C8B-B14F-4D97-AF65-F5344CB8AC3E}">
        <p14:creationId xmlns:p14="http://schemas.microsoft.com/office/powerpoint/2010/main" val="1060643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6437FBB-A29B-4F2F-8947-7EF1F4105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7108351"/>
              </p:ext>
            </p:extLst>
          </p:nvPr>
        </p:nvGraphicFramePr>
        <p:xfrm>
          <a:off x="2032000" y="719666"/>
          <a:ext cx="8128000" cy="202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9915128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2953946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6938014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40425798"/>
                    </a:ext>
                  </a:extLst>
                </a:gridCol>
              </a:tblGrid>
              <a:tr h="370840">
                <a:tc rowSpan="2" gridSpan="2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Reality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6043092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82844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Measured or Perceived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1 error </a:t>
                      </a:r>
                    </a:p>
                    <a:p>
                      <a:pPr algn="ctr"/>
                      <a:r>
                        <a:rPr lang="en-US" dirty="0"/>
                        <a:t>(False Positive)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343414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2 error </a:t>
                      </a:r>
                    </a:p>
                    <a:p>
                      <a:pPr algn="ctr"/>
                      <a:r>
                        <a:rPr lang="en-US" dirty="0"/>
                        <a:t>(False Negative)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Correct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777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877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DD4756-698F-4A51-8861-2A1D0F062DBF}"/>
              </a:ext>
            </a:extLst>
          </p:cNvPr>
          <p:cNvSpPr/>
          <p:nvPr/>
        </p:nvSpPr>
        <p:spPr>
          <a:xfrm>
            <a:off x="3554082" y="508958"/>
            <a:ext cx="4132053" cy="914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Validity</a:t>
            </a:r>
          </a:p>
          <a:p>
            <a:pPr algn="ctr"/>
            <a:r>
              <a:rPr lang="en-US" dirty="0"/>
              <a:t>(the extend to which an indicator measures the concept)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E58ACD-9495-4B8D-918A-B40D203FF9FE}"/>
              </a:ext>
            </a:extLst>
          </p:cNvPr>
          <p:cNvSpPr/>
          <p:nvPr/>
        </p:nvSpPr>
        <p:spPr>
          <a:xfrm>
            <a:off x="1006416" y="2429772"/>
            <a:ext cx="1581510" cy="5894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Face Validity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C61495-5675-4B39-A63E-D04778693E25}"/>
              </a:ext>
            </a:extLst>
          </p:cNvPr>
          <p:cNvSpPr/>
          <p:nvPr/>
        </p:nvSpPr>
        <p:spPr>
          <a:xfrm>
            <a:off x="2927231" y="2429771"/>
            <a:ext cx="1581510" cy="589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Predictive Validity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5EA24-9057-43A9-97A6-2EFEB46E8722}"/>
              </a:ext>
            </a:extLst>
          </p:cNvPr>
          <p:cNvSpPr/>
          <p:nvPr/>
        </p:nvSpPr>
        <p:spPr>
          <a:xfrm>
            <a:off x="4848046" y="2429771"/>
            <a:ext cx="1581510" cy="589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Concurrent Validity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AA76E-0259-4B3A-B180-35F52C3BACB2}"/>
              </a:ext>
            </a:extLst>
          </p:cNvPr>
          <p:cNvSpPr/>
          <p:nvPr/>
        </p:nvSpPr>
        <p:spPr>
          <a:xfrm>
            <a:off x="6768861" y="2429771"/>
            <a:ext cx="1581510" cy="589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Convergent Validity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9A3CFA-94EC-41FA-87D3-BF51DF3132E0}"/>
              </a:ext>
            </a:extLst>
          </p:cNvPr>
          <p:cNvSpPr/>
          <p:nvPr/>
        </p:nvSpPr>
        <p:spPr>
          <a:xfrm>
            <a:off x="8689676" y="2429771"/>
            <a:ext cx="1581510" cy="5894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Construct Validity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B04BB3-6CC4-486E-8D74-2FB1B9AFE26D}"/>
              </a:ext>
            </a:extLst>
          </p:cNvPr>
          <p:cNvSpPr/>
          <p:nvPr/>
        </p:nvSpPr>
        <p:spPr>
          <a:xfrm>
            <a:off x="1006416" y="3470693"/>
            <a:ext cx="1581510" cy="21623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Whether experts think it is valid?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29762B-D9CE-416F-A6E1-E177E08028DE}"/>
              </a:ext>
            </a:extLst>
          </p:cNvPr>
          <p:cNvSpPr/>
          <p:nvPr/>
        </p:nvSpPr>
        <p:spPr>
          <a:xfrm>
            <a:off x="6768860" y="3470693"/>
            <a:ext cx="1581510" cy="21623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Do other research methods provide similar measurements of the concepts?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B4F5A6-8DD6-4604-A472-9AAD3B9F2111}"/>
              </a:ext>
            </a:extLst>
          </p:cNvPr>
          <p:cNvSpPr/>
          <p:nvPr/>
        </p:nvSpPr>
        <p:spPr>
          <a:xfrm>
            <a:off x="4848046" y="3470693"/>
            <a:ext cx="1581510" cy="21623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Compare results against another measure known to be valid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96B50C-0974-45EC-A53E-275E697960C1}"/>
              </a:ext>
            </a:extLst>
          </p:cNvPr>
          <p:cNvSpPr/>
          <p:nvPr/>
        </p:nvSpPr>
        <p:spPr>
          <a:xfrm>
            <a:off x="2927231" y="3470693"/>
            <a:ext cx="1581510" cy="21623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What is the prediction’s accuracy of the indicators?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FCD31-E60D-47CD-A466-40E675B5BB69}"/>
              </a:ext>
            </a:extLst>
          </p:cNvPr>
          <p:cNvSpPr/>
          <p:nvPr/>
        </p:nvSpPr>
        <p:spPr>
          <a:xfrm>
            <a:off x="8689676" y="3470693"/>
            <a:ext cx="1581510" cy="21623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Can you deduce hypotheses using the measure?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8CB2DC-0D4E-4671-AEA2-D772D05E1A9A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797171" y="1423358"/>
            <a:ext cx="3822938" cy="100641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FA64E9-A208-4BB2-8948-AEBA46ED429A}"/>
              </a:ext>
            </a:extLst>
          </p:cNvPr>
          <p:cNvCxnSpPr>
            <a:cxnSpLocks/>
            <a:stCxn id="6" idx="0"/>
            <a:endCxn id="4" idx="2"/>
          </p:cNvCxnSpPr>
          <p:nvPr/>
        </p:nvCxnSpPr>
        <p:spPr>
          <a:xfrm flipV="1">
            <a:off x="3717986" y="1423358"/>
            <a:ext cx="1902123" cy="1006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8DED63F-ED71-4463-84D2-E435CDD9069E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H="1" flipV="1">
            <a:off x="5620109" y="1423358"/>
            <a:ext cx="18692" cy="1006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6A6181-8868-4330-9749-A02BCECCE824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5620109" y="1423358"/>
            <a:ext cx="1939507" cy="1006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B3F2A0E-A719-4ED1-9836-643B63995957}"/>
              </a:ext>
            </a:extLst>
          </p:cNvPr>
          <p:cNvCxnSpPr>
            <a:cxnSpLocks/>
            <a:stCxn id="9" idx="0"/>
            <a:endCxn id="4" idx="2"/>
          </p:cNvCxnSpPr>
          <p:nvPr/>
        </p:nvCxnSpPr>
        <p:spPr>
          <a:xfrm flipH="1" flipV="1">
            <a:off x="5620109" y="1423358"/>
            <a:ext cx="3860322" cy="10064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918F7C2-1533-4832-83D7-7723FEEDD1B2}"/>
              </a:ext>
            </a:extLst>
          </p:cNvPr>
          <p:cNvCxnSpPr>
            <a:cxnSpLocks/>
            <a:stCxn id="10" idx="0"/>
            <a:endCxn id="5" idx="2"/>
          </p:cNvCxnSpPr>
          <p:nvPr/>
        </p:nvCxnSpPr>
        <p:spPr>
          <a:xfrm flipV="1">
            <a:off x="1797171" y="3019245"/>
            <a:ext cx="0" cy="451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0088AAD-86A6-4CF5-82C7-47410BD293A7}"/>
              </a:ext>
            </a:extLst>
          </p:cNvPr>
          <p:cNvCxnSpPr>
            <a:cxnSpLocks/>
            <a:stCxn id="13" idx="0"/>
            <a:endCxn id="6" idx="2"/>
          </p:cNvCxnSpPr>
          <p:nvPr/>
        </p:nvCxnSpPr>
        <p:spPr>
          <a:xfrm flipV="1">
            <a:off x="3717986" y="3019245"/>
            <a:ext cx="0" cy="451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6C1BF8-9593-4F91-A419-00D547474DE2}"/>
              </a:ext>
            </a:extLst>
          </p:cNvPr>
          <p:cNvCxnSpPr>
            <a:cxnSpLocks/>
            <a:stCxn id="12" idx="0"/>
            <a:endCxn id="7" idx="2"/>
          </p:cNvCxnSpPr>
          <p:nvPr/>
        </p:nvCxnSpPr>
        <p:spPr>
          <a:xfrm flipV="1">
            <a:off x="5638801" y="3019245"/>
            <a:ext cx="0" cy="451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160BBCC-EE25-4C29-9DB7-7AAEE3EE11A2}"/>
              </a:ext>
            </a:extLst>
          </p:cNvPr>
          <p:cNvCxnSpPr>
            <a:cxnSpLocks/>
            <a:stCxn id="11" idx="0"/>
            <a:endCxn id="8" idx="2"/>
          </p:cNvCxnSpPr>
          <p:nvPr/>
        </p:nvCxnSpPr>
        <p:spPr>
          <a:xfrm flipV="1">
            <a:off x="7559615" y="3019245"/>
            <a:ext cx="1" cy="451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72B5EB2-1EB3-4775-87F4-5C3A615C499E}"/>
              </a:ext>
            </a:extLst>
          </p:cNvPr>
          <p:cNvCxnSpPr>
            <a:cxnSpLocks/>
            <a:stCxn id="14" idx="0"/>
            <a:endCxn id="9" idx="2"/>
          </p:cNvCxnSpPr>
          <p:nvPr/>
        </p:nvCxnSpPr>
        <p:spPr>
          <a:xfrm flipV="1">
            <a:off x="9480431" y="3019245"/>
            <a:ext cx="0" cy="451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234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76B1C8C-1A75-44B8-BF25-861B3F371C89}"/>
              </a:ext>
            </a:extLst>
          </p:cNvPr>
          <p:cNvSpPr/>
          <p:nvPr/>
        </p:nvSpPr>
        <p:spPr>
          <a:xfrm>
            <a:off x="5023448" y="21134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Measurement Error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B54A98-1769-49A6-9265-7A5D6F32F27C}"/>
              </a:ext>
            </a:extLst>
          </p:cNvPr>
          <p:cNvSpPr/>
          <p:nvPr/>
        </p:nvSpPr>
        <p:spPr>
          <a:xfrm>
            <a:off x="2261559" y="999222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Systematic</a:t>
            </a:r>
          </a:p>
          <a:p>
            <a:pPr algn="ctr"/>
            <a:r>
              <a:rPr lang="en-US" sz="1200" dirty="0"/>
              <a:t>Error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22F3AC-81F8-45CA-B79C-BBF3BFEE706A}"/>
              </a:ext>
            </a:extLst>
          </p:cNvPr>
          <p:cNvSpPr/>
          <p:nvPr/>
        </p:nvSpPr>
        <p:spPr>
          <a:xfrm>
            <a:off x="7676072" y="999222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Random</a:t>
            </a:r>
          </a:p>
          <a:p>
            <a:pPr algn="ctr"/>
            <a:r>
              <a:rPr lang="en-US" sz="1200" dirty="0"/>
              <a:t>Error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448E4B-0BAE-4FC6-989B-98086D091A56}"/>
              </a:ext>
            </a:extLst>
          </p:cNvPr>
          <p:cNvSpPr/>
          <p:nvPr/>
        </p:nvSpPr>
        <p:spPr>
          <a:xfrm>
            <a:off x="2261559" y="1841735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Validity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611D51-7B89-4BB4-9324-A8D8D64DDF4E}"/>
              </a:ext>
            </a:extLst>
          </p:cNvPr>
          <p:cNvSpPr/>
          <p:nvPr/>
        </p:nvSpPr>
        <p:spPr>
          <a:xfrm>
            <a:off x="7676072" y="1841735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Reliability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E9255-394C-43F9-962A-09618F148F74}"/>
              </a:ext>
            </a:extLst>
          </p:cNvPr>
          <p:cNvSpPr/>
          <p:nvPr/>
        </p:nvSpPr>
        <p:spPr>
          <a:xfrm>
            <a:off x="759850" y="2745351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Construct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C88A9B-61B6-495E-BEC8-CBDF3E8BA562}"/>
              </a:ext>
            </a:extLst>
          </p:cNvPr>
          <p:cNvSpPr/>
          <p:nvPr/>
        </p:nvSpPr>
        <p:spPr>
          <a:xfrm>
            <a:off x="3814313" y="2745351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E26CAA-8F7D-434C-B2BB-402E95B319DE}"/>
              </a:ext>
            </a:extLst>
          </p:cNvPr>
          <p:cNvSpPr/>
          <p:nvPr/>
        </p:nvSpPr>
        <p:spPr>
          <a:xfrm>
            <a:off x="186909" y="3914944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Content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6D34B-A6EB-48DC-9521-01EB960DD9D6}"/>
              </a:ext>
            </a:extLst>
          </p:cNvPr>
          <p:cNvSpPr/>
          <p:nvPr/>
        </p:nvSpPr>
        <p:spPr>
          <a:xfrm>
            <a:off x="1396044" y="391349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Criterion Related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3FFDBB-5C5F-47E8-A767-09C3B30C6048}"/>
              </a:ext>
            </a:extLst>
          </p:cNvPr>
          <p:cNvSpPr/>
          <p:nvPr/>
        </p:nvSpPr>
        <p:spPr>
          <a:xfrm>
            <a:off x="2605179" y="391349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Internal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4006C0-EC5D-42A7-ACA0-BD1B1935D1C1}"/>
              </a:ext>
            </a:extLst>
          </p:cNvPr>
          <p:cNvSpPr/>
          <p:nvPr/>
        </p:nvSpPr>
        <p:spPr>
          <a:xfrm>
            <a:off x="3814314" y="391349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External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1D207-9ACB-464E-B1CB-D33B6DA39AF3}"/>
              </a:ext>
            </a:extLst>
          </p:cNvPr>
          <p:cNvSpPr/>
          <p:nvPr/>
        </p:nvSpPr>
        <p:spPr>
          <a:xfrm>
            <a:off x="8876582" y="391349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Inter-rater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75C6F4-760E-4D54-B881-143C4A8E2EFD}"/>
              </a:ext>
            </a:extLst>
          </p:cNvPr>
          <p:cNvSpPr/>
          <p:nvPr/>
        </p:nvSpPr>
        <p:spPr>
          <a:xfrm>
            <a:off x="5023449" y="391349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Statistical Conclusion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A4D727-2B3F-4442-A243-61A74FE806AD}"/>
              </a:ext>
            </a:extLst>
          </p:cNvPr>
          <p:cNvSpPr/>
          <p:nvPr/>
        </p:nvSpPr>
        <p:spPr>
          <a:xfrm>
            <a:off x="6475562" y="391349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Internal Consistency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3E0BAA-D0FB-4B90-92BA-FFB64073C8FE}"/>
              </a:ext>
            </a:extLst>
          </p:cNvPr>
          <p:cNvSpPr/>
          <p:nvPr/>
        </p:nvSpPr>
        <p:spPr>
          <a:xfrm>
            <a:off x="7676072" y="3913496"/>
            <a:ext cx="1072551" cy="3536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Stability</a:t>
            </a: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A8CA767B-2ED2-4C1F-9F1D-63A87E7EE84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rot="5400000">
            <a:off x="3961684" y="-598818"/>
            <a:ext cx="434192" cy="276188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8C15F267-7518-48C3-8E98-F64A01F9DB59}"/>
              </a:ext>
            </a:extLst>
          </p:cNvPr>
          <p:cNvCxnSpPr>
            <a:stCxn id="4" idx="2"/>
            <a:endCxn id="6" idx="0"/>
          </p:cNvCxnSpPr>
          <p:nvPr/>
        </p:nvCxnSpPr>
        <p:spPr>
          <a:xfrm rot="16200000" flipH="1">
            <a:off x="6668940" y="-544186"/>
            <a:ext cx="434192" cy="265262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C8A23B9-57FC-4654-BD95-9967311672CF}"/>
              </a:ext>
            </a:extLst>
          </p:cNvPr>
          <p:cNvCxnSpPr>
            <a:stCxn id="5" idx="2"/>
            <a:endCxn id="7" idx="0"/>
          </p:cNvCxnSpPr>
          <p:nvPr/>
        </p:nvCxnSpPr>
        <p:spPr>
          <a:xfrm>
            <a:off x="2797835" y="1352906"/>
            <a:ext cx="0" cy="488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55F1D99-FD35-4089-8421-4F2F2A752EBC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8212348" y="1352906"/>
            <a:ext cx="0" cy="488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7840C2AC-ACCC-48DD-9A25-D8A90FB34654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1772015" y="1719531"/>
            <a:ext cx="549932" cy="150170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69D31B71-2461-465F-9AC8-DA3BFCE2D8DE}"/>
              </a:ext>
            </a:extLst>
          </p:cNvPr>
          <p:cNvCxnSpPr>
            <a:stCxn id="7" idx="2"/>
            <a:endCxn id="10" idx="0"/>
          </p:cNvCxnSpPr>
          <p:nvPr/>
        </p:nvCxnSpPr>
        <p:spPr>
          <a:xfrm rot="16200000" flipH="1">
            <a:off x="3299246" y="1694008"/>
            <a:ext cx="549932" cy="15527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94D1263A-5D61-44F9-A5E0-B146FA6F2A6B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5400000">
            <a:off x="601702" y="3220519"/>
            <a:ext cx="815909" cy="57294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3021BFE4-208B-404F-9E64-D8C76AE9F7D2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rot="16200000" flipH="1">
            <a:off x="1206993" y="3188168"/>
            <a:ext cx="814461" cy="6361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2821D67-30B8-4AD3-AC86-B3CAA4B0E5F1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rot="5400000">
            <a:off x="3338792" y="2901698"/>
            <a:ext cx="814461" cy="120913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96C4CD8C-77FA-47BD-B493-E7FC0A008096}"/>
              </a:ext>
            </a:extLst>
          </p:cNvPr>
          <p:cNvCxnSpPr>
            <a:stCxn id="10" idx="2"/>
            <a:endCxn id="16" idx="0"/>
          </p:cNvCxnSpPr>
          <p:nvPr/>
        </p:nvCxnSpPr>
        <p:spPr>
          <a:xfrm rot="16200000" flipH="1">
            <a:off x="4547927" y="2901697"/>
            <a:ext cx="814461" cy="12091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0A637411-4AD5-4AC5-BDC4-324E0CA109C6}"/>
              </a:ext>
            </a:extLst>
          </p:cNvPr>
          <p:cNvCxnSpPr>
            <a:stCxn id="10" idx="2"/>
            <a:endCxn id="14" idx="0"/>
          </p:cNvCxnSpPr>
          <p:nvPr/>
        </p:nvCxnSpPr>
        <p:spPr>
          <a:xfrm>
            <a:off x="4350589" y="3099035"/>
            <a:ext cx="1" cy="8144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0A099E1F-637F-4DE7-BB98-ADAFBFC04E4F}"/>
              </a:ext>
            </a:extLst>
          </p:cNvPr>
          <p:cNvCxnSpPr>
            <a:stCxn id="8" idx="2"/>
            <a:endCxn id="17" idx="0"/>
          </p:cNvCxnSpPr>
          <p:nvPr/>
        </p:nvCxnSpPr>
        <p:spPr>
          <a:xfrm rot="5400000">
            <a:off x="6753055" y="2454202"/>
            <a:ext cx="1718077" cy="12005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2ED4294-1742-456F-9A96-837846D2426B}"/>
              </a:ext>
            </a:extLst>
          </p:cNvPr>
          <p:cNvCxnSpPr>
            <a:stCxn id="8" idx="2"/>
            <a:endCxn id="15" idx="0"/>
          </p:cNvCxnSpPr>
          <p:nvPr/>
        </p:nvCxnSpPr>
        <p:spPr>
          <a:xfrm rot="16200000" flipH="1">
            <a:off x="7953565" y="2454202"/>
            <a:ext cx="1718077" cy="120051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04C30F6-0B71-4A44-A9F1-2463D7EF7F0F}"/>
              </a:ext>
            </a:extLst>
          </p:cNvPr>
          <p:cNvCxnSpPr>
            <a:stCxn id="8" idx="2"/>
            <a:endCxn id="18" idx="0"/>
          </p:cNvCxnSpPr>
          <p:nvPr/>
        </p:nvCxnSpPr>
        <p:spPr>
          <a:xfrm>
            <a:off x="8212348" y="2195419"/>
            <a:ext cx="0" cy="1718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A17FF46-A056-4B8C-8406-AF3F31D973AF}"/>
              </a:ext>
            </a:extLst>
          </p:cNvPr>
          <p:cNvSpPr/>
          <p:nvPr/>
        </p:nvSpPr>
        <p:spPr>
          <a:xfrm>
            <a:off x="186908" y="4481412"/>
            <a:ext cx="1072551" cy="1997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Literature review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Personal reflective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Analytical critique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A54D50C-87FE-40B3-A102-1A738B52EE14}"/>
              </a:ext>
            </a:extLst>
          </p:cNvPr>
          <p:cNvSpPr/>
          <p:nvPr/>
        </p:nvSpPr>
        <p:spPr>
          <a:xfrm>
            <a:off x="1396043" y="4481412"/>
            <a:ext cx="1072551" cy="1997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Concurrent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Convergent/divergent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Predictive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Factor Analysis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D242839-3E33-42C0-BBBE-A2E63A791AF6}"/>
              </a:ext>
            </a:extLst>
          </p:cNvPr>
          <p:cNvSpPr/>
          <p:nvPr/>
        </p:nvSpPr>
        <p:spPr>
          <a:xfrm>
            <a:off x="2605178" y="4481411"/>
            <a:ext cx="1072551" cy="6077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History/concurrent events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Maturation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Testing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Regression toward the mean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Differential selection of participants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Differential loss of participants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Diffusion of treatment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Ambiguity about direction of causal relationships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Compensatory rivalry of subjects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Demoralization of control group subjects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11BC432-3684-49B6-94CF-17198ADA85B8}"/>
              </a:ext>
            </a:extLst>
          </p:cNvPr>
          <p:cNvSpPr/>
          <p:nvPr/>
        </p:nvSpPr>
        <p:spPr>
          <a:xfrm>
            <a:off x="3814312" y="4481410"/>
            <a:ext cx="1072551" cy="254049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Interaction of subject selection and treatment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Interaction of settings and treatment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Interaction of history and treatment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2DEF6ED-19B0-4267-8EDA-6FB49DB87334}"/>
              </a:ext>
            </a:extLst>
          </p:cNvPr>
          <p:cNvSpPr/>
          <p:nvPr/>
        </p:nvSpPr>
        <p:spPr>
          <a:xfrm>
            <a:off x="5023446" y="4482839"/>
            <a:ext cx="1072551" cy="47819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Power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Violation of assumption of statistical tests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Confounded significance levels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Reliability of measures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Reliability of treatment implementation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Heterogeneity of the environmental setting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Heterogeneity of respondents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801B30-3A59-423F-8913-9B000E48CF7A}"/>
              </a:ext>
            </a:extLst>
          </p:cNvPr>
          <p:cNvSpPr/>
          <p:nvPr/>
        </p:nvSpPr>
        <p:spPr>
          <a:xfrm>
            <a:off x="6475561" y="4481412"/>
            <a:ext cx="1072551" cy="1997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Cronbach's alpha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Kuder-Richardson formula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Coefficient theta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F076469-D0AE-4567-8ED8-FEF98B0DB7D3}"/>
              </a:ext>
            </a:extLst>
          </p:cNvPr>
          <p:cNvSpPr/>
          <p:nvPr/>
        </p:nvSpPr>
        <p:spPr>
          <a:xfrm>
            <a:off x="7676071" y="4481412"/>
            <a:ext cx="1072551" cy="19970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Test-retest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683434D-DA22-471C-AA1A-1CBA05EC7662}"/>
              </a:ext>
            </a:extLst>
          </p:cNvPr>
          <p:cNvSpPr/>
          <p:nvPr/>
        </p:nvSpPr>
        <p:spPr>
          <a:xfrm>
            <a:off x="8876582" y="4481410"/>
            <a:ext cx="1072551" cy="28855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Alternative form method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 err="1"/>
              <a:t>Kandall’s</a:t>
            </a:r>
            <a:r>
              <a:rPr lang="en-US" sz="1200" dirty="0"/>
              <a:t> coefficient of concordance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Percent agreement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Kappa and Phi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Bland-Altman plot</a:t>
            </a:r>
          </a:p>
        </p:txBody>
      </p:sp>
    </p:spTree>
    <p:extLst>
      <p:ext uri="{BB962C8B-B14F-4D97-AF65-F5344CB8AC3E}">
        <p14:creationId xmlns:p14="http://schemas.microsoft.com/office/powerpoint/2010/main" val="3559279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264</Words>
  <Application>Microsoft Office PowerPoint</Application>
  <PresentationFormat>Widescreen</PresentationFormat>
  <Paragraphs>87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Nguyen, Mike (MU-Student)</dc:creator>
  <cp:lastModifiedBy>Nguyen, Mike (MU-Student)</cp:lastModifiedBy>
  <cp:revision>4</cp:revision>
  <dcterms:created xsi:type="dcterms:W3CDTF">2021-04-30T23:32:13Z</dcterms:created>
  <dcterms:modified xsi:type="dcterms:W3CDTF">2021-05-01T00:09:43Z</dcterms:modified>
</cp:coreProperties>
</file>